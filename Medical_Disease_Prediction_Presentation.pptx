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7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A22"/>
                </a:solidFill>
                <a:latin typeface="Calibri"/>
              </a:rPr>
              <a:t>Medical Imaging Report</a:t>
            </a:r>
          </a:p>
          <a:p>
            <a:r>
              <a:rPr sz="2400" b="0">
                <a:solidFill>
                  <a:srgbClr val="0C7C69"/>
                </a:solidFill>
                <a:latin typeface="Calibri"/>
              </a:rPr>
              <a:t>AI-Based Multi-Modality Disease Prediction</a:t>
            </a:r>
          </a:p>
          <a:p>
            <a:r>
              <a:rPr sz="1600" b="0">
                <a:solidFill>
                  <a:srgbClr val="3A4B56"/>
                </a:solidFill>
                <a:latin typeface="Calibri"/>
              </a:rPr>
              <a:t>Brain MRI  ·  Chest X-ray  ·  Chest 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0F1A22"/>
                </a:solidFill>
                <a:latin typeface="Calibri"/>
              </a:rPr>
              <a:t>Presented by: Thirthaprasad C N</a:t>
            </a:r>
          </a:p>
          <a:p>
            <a:r>
              <a:rPr sz="1600" b="0">
                <a:solidFill>
                  <a:srgbClr val="0F1A22"/>
                </a:solidFill>
                <a:latin typeface="Calibri"/>
              </a:rPr>
              <a:t>Email: thirthaprasadcn@gmail.com</a:t>
            </a:r>
          </a:p>
          <a:p>
            <a:r>
              <a:rPr sz="1600" b="0">
                <a:solidFill>
                  <a:srgbClr val="0F1A22"/>
                </a:solidFill>
                <a:latin typeface="Calibri"/>
              </a:rPr>
              <a:t>Project: medical-disease-prediction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A4B56"/>
                </a:solidFill>
                <a:latin typeface="Calibri"/>
              </a:rPr>
              <a:t>Medical Disease Prediction  |  Research prototype — not a medical device  |  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A22"/>
                </a:solidFill>
                <a:latin typeface="Calibri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1155680" cy="18288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Abstract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Introduction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Problem statement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Literature survey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Objective of the proposed project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Proposed methodology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Flow diagram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Outcome of the project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Results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Conclusion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References that support the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A4B56"/>
                </a:solidFill>
                <a:latin typeface="Calibri"/>
              </a:rPr>
              <a:t>Medical Disease Prediction  |  Research prototype — not a medical device  |  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A22"/>
                </a:solidFill>
                <a:latin typeface="Calibri"/>
              </a:rPr>
              <a:t>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1155680" cy="18288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This project presents an AI-assisted medical imaging report system for multi-modality disease prediction.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Pipeline: Ingestion → Preprocessing → Inference → Report generation → Clinician review.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Supports Brain MRI (tumor typing), Chest X-ray (pneumonia), and Chest CT (nodule screening).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Implemented with FastAPI, PyTorch CNNs, DICOM ingestion, FHIR export, and a multi-page web UI.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Research prototype only — not a medical device and not clinically validated.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A4B56"/>
                </a:solidFill>
                <a:latin typeface="Calibri"/>
              </a:rPr>
              <a:t>Medical Disease Prediction  |  Research prototype — not a medical device  |  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A22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1155680" cy="18288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Radiology workloads are increasing; timely reporting remains a challenge.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Different imaging modalities require specialized AI models — one model is not enough.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A practical system must upload studies, route correctly, analyze disease, and produce a reviewable report.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This project builds a local industrial-style console: Home → Upload → Output.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It combines classical preprocessing, trained deep models, and clinical workflow features (review, FHIR, PACS scaffold).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A4B56"/>
                </a:solidFill>
                <a:latin typeface="Calibri"/>
              </a:rPr>
              <a:t>Medical Disease Prediction  |  Research prototype — not a medical device  |  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A22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1155680" cy="18288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Manual interpretation is time-consuming and varies across Brain MRI, X-ray, and CT.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Using a single chest model (e.g., pneumonia) on brain MRI produces incorrect disease labels.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PNG/JPG uploads often lack DICOM modality tags, increasing misrouting risk.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Need an anatomy-aware router plus separate trained models per modality.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Need structured outputs: overlays, disease assessment, clinician sign-off, and interoperability (FHIR).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A4B56"/>
                </a:solidFill>
                <a:latin typeface="Calibri"/>
              </a:rPr>
              <a:t>Medical Disease Prediction  |  Research prototype — not a medical device  |  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A22"/>
                </a:solidFill>
                <a:latin typeface="Calibri"/>
              </a:rPr>
              <a:t>Literature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1155680" cy="18288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0C7C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 / resource</a:t>
                      </a:r>
                    </a:p>
                  </a:txBody>
                  <a:tcPr>
                    <a:solidFill>
                      <a:srgbClr val="0C7C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Relevance to project</a:t>
                      </a:r>
                    </a:p>
                  </a:txBody>
                  <a:tcPr>
                    <a:solidFill>
                      <a:srgbClr val="0C7C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Chest X-ray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PneumoniaMNIST / CNN classifiers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Pneumonia vs normal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Brain MRI AI</a:t>
                      </a:r>
                    </a:p>
                  </a:txBody>
                  <a:tcPr>
                    <a:solidFill>
                      <a:srgbClr val="E8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Tumor MRI classification datasets</a:t>
                      </a:r>
                    </a:p>
                  </a:txBody>
                  <a:tcPr>
                    <a:solidFill>
                      <a:srgbClr val="E8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4-class tumor CNN</a:t>
                      </a:r>
                    </a:p>
                  </a:txBody>
                  <a:tcPr>
                    <a:solidFill>
                      <a:srgbClr val="E8F5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CT nodules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LIDC-IDRI / nodule benchmarks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Chest CT nodule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Segmentation</a:t>
                      </a:r>
                    </a:p>
                  </a:txBody>
                  <a:tcPr>
                    <a:solidFill>
                      <a:srgbClr val="E8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BraTS / U-Net style models</a:t>
                      </a:r>
                    </a:p>
                  </a:txBody>
                  <a:tcPr>
                    <a:solidFill>
                      <a:srgbClr val="E8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Brain tumor region findings</a:t>
                      </a:r>
                    </a:p>
                  </a:txBody>
                  <a:tcPr>
                    <a:solidFill>
                      <a:srgbClr val="E8F5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Standards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DICOM &amp; FHIR R4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Ingest + DiagnosticReport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3035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A4B56"/>
                </a:solidFill>
                <a:latin typeface="Calibri"/>
              </a:rPr>
              <a:t>Selected public datasets and standards guide the industrial pipeline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A4B56"/>
                </a:solidFill>
                <a:latin typeface="Calibri"/>
              </a:rPr>
              <a:t>Medical Disease Prediction  |  Research prototype — not a medical device  |  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A22"/>
                </a:solidFill>
                <a:latin typeface="Calibri"/>
              </a:rPr>
              <a:t>Objective of the Proposed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1155680" cy="18288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Develop a web-based medical imaging report system for study upload and analysis.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Automatically route each scan to Brain MRI, Chest X-ray, or Chest CT pathways.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Train and integrate modality-specific disease models with reported test metrics.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Generate overlays, structured reports, and FHIR DiagnosticReport export.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Enable clinician review actions (accept/reject findings) and report sign-off.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A4B56"/>
                </a:solidFill>
                <a:latin typeface="Calibri"/>
              </a:rPr>
              <a:t>Medical Disease Prediction  |  Research prototype — not a medical device  |  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A22"/>
                </a:solidFill>
                <a:latin typeface="Calibri"/>
              </a:rPr>
              <a:t>Proposed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1155680" cy="18288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Frontend: industrial multi-page UI — Home, Upload, Output — with 3D imaging stage.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Backend: FastAPI services for upload, inference, registry, review, and PACS scaffolding.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Preprocessing: resize, denoise, CLAHE contrast enhancement.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Modality router: user scan type + image/filename heuristics → disease model.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Models: Brain tumor CNN, Pneumonia CNN, CT nodule CNN, Brain Mini-UNet segmentation.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Post-process: findings overlay, disease assessment, SQLite review persistence, FHIR bundle.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A4B56"/>
                </a:solidFill>
                <a:latin typeface="Calibri"/>
              </a:rPr>
              <a:t>Medical Disease Prediction  |  Research prototype — not a medical device  |  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A22"/>
                </a:solidFill>
                <a:latin typeface="Calibri"/>
              </a:rPr>
              <a:t>Flow Diagram</a:t>
            </a:r>
          </a:p>
          <a:p>
            <a:r>
              <a:rPr sz="1400" b="0">
                <a:solidFill>
                  <a:srgbClr val="3A4B56"/>
                </a:solidFill>
                <a:latin typeface="Calibri"/>
              </a:rPr>
              <a:t>End-to-end imaging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1155680" cy="18288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C7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C7C69"/>
                </a:solidFill>
                <a:latin typeface="Calibri"/>
              </a:rPr>
              <a:t>1. Upload</a:t>
            </a:r>
          </a:p>
          <a:p>
            <a:pPr algn="ctr"/>
            <a:r>
              <a:rPr sz="1100" b="0">
                <a:solidFill>
                  <a:srgbClr val="3A4B56"/>
                </a:solidFill>
                <a:latin typeface="Calibri"/>
              </a:rPr>
              <a:t>PNG / JPG / DICOM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C7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C7C69"/>
                </a:solidFill>
                <a:latin typeface="Calibri"/>
              </a:rPr>
              <a:t>2. Preprocess</a:t>
            </a:r>
          </a:p>
          <a:p>
            <a:pPr algn="ctr"/>
            <a:r>
              <a:rPr sz="1100" b="0">
                <a:solidFill>
                  <a:srgbClr val="3A4B56"/>
                </a:solidFill>
                <a:latin typeface="Calibri"/>
              </a:rPr>
              <a:t>Resize · Denoise · CLAHE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37160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C7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C7C69"/>
                </a:solidFill>
                <a:latin typeface="Calibri"/>
              </a:rPr>
              <a:t>3. Route</a:t>
            </a:r>
          </a:p>
          <a:p>
            <a:pPr algn="ctr"/>
            <a:r>
              <a:rPr sz="1100" b="0">
                <a:solidFill>
                  <a:srgbClr val="3A4B56"/>
                </a:solidFill>
                <a:latin typeface="Calibri"/>
              </a:rPr>
              <a:t>Brain / XR / 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37160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C7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C7C69"/>
                </a:solidFill>
                <a:latin typeface="Calibri"/>
              </a:rPr>
              <a:t>4. Infer</a:t>
            </a:r>
          </a:p>
          <a:p>
            <a:pPr algn="ctr"/>
            <a:r>
              <a:rPr sz="1100" b="0">
                <a:solidFill>
                  <a:srgbClr val="3A4B56"/>
                </a:solidFill>
                <a:latin typeface="Calibri"/>
              </a:rPr>
              <a:t>Disease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137160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C7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C7C69"/>
                </a:solidFill>
                <a:latin typeface="Calibri"/>
              </a:rPr>
              <a:t>5. Report</a:t>
            </a:r>
          </a:p>
          <a:p>
            <a:pPr algn="ctr"/>
            <a:r>
              <a:rPr sz="1100" b="0">
                <a:solidFill>
                  <a:srgbClr val="3A4B56"/>
                </a:solidFill>
                <a:latin typeface="Calibri"/>
              </a:rPr>
              <a:t>Review · FHIR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200400"/>
            <a:ext cx="2560320" cy="1097280"/>
          </a:xfrm>
          <a:prstGeom prst="roundRect">
            <a:avLst/>
          </a:prstGeom>
          <a:solidFill>
            <a:srgbClr val="E8F5F1"/>
          </a:solidFill>
          <a:ln>
            <a:solidFill>
              <a:srgbClr val="0C7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A22"/>
                </a:solidFill>
                <a:latin typeface="Calibri"/>
              </a:rPr>
              <a:t>Brain MRI
Tumor CNN + Seg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200400"/>
            <a:ext cx="2560320" cy="1097280"/>
          </a:xfrm>
          <a:prstGeom prst="roundRect">
            <a:avLst/>
          </a:prstGeom>
          <a:solidFill>
            <a:srgbClr val="E8F5F1"/>
          </a:solidFill>
          <a:ln>
            <a:solidFill>
              <a:srgbClr val="0C7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A22"/>
                </a:solidFill>
                <a:latin typeface="Calibri"/>
              </a:rPr>
              <a:t>Chest X-ray
Pneumonia CNN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200400"/>
            <a:ext cx="2560320" cy="1097280"/>
          </a:xfrm>
          <a:prstGeom prst="roundRect">
            <a:avLst/>
          </a:prstGeom>
          <a:solidFill>
            <a:srgbClr val="E8F5F1"/>
          </a:solidFill>
          <a:ln>
            <a:solidFill>
              <a:srgbClr val="0C7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A22"/>
                </a:solidFill>
                <a:latin typeface="Calibri"/>
              </a:rPr>
              <a:t>Chest CT
Nodule 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634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A22"/>
                </a:solidFill>
                <a:latin typeface="Calibri"/>
              </a:rPr>
              <a:t>•  Routing rule: Scan type + anatomy detection selects the disease model.</a:t>
            </a:r>
          </a:p>
          <a:p>
            <a:r>
              <a:rPr sz="1400" b="0">
                <a:solidFill>
                  <a:srgbClr val="0F1A22"/>
                </a:solidFill>
                <a:latin typeface="Calibri"/>
              </a:rPr>
              <a:t>•  Brain MRI → tumor classification / segmentation · Chest X-ray → pneumonia · Chest CT → nodules.</a:t>
            </a:r>
          </a:p>
          <a:p>
            <a:r>
              <a:rPr sz="1400" b="0">
                <a:solidFill>
                  <a:srgbClr val="0F1A22"/>
                </a:solidFill>
                <a:latin typeface="Calibri"/>
              </a:rPr>
              <a:t>•  Output: overlay findings, disease assessment, clinician accept/reject, FHIR export.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A4B56"/>
                </a:solidFill>
                <a:latin typeface="Calibri"/>
              </a:rPr>
              <a:t>Medical Disease Prediction  |  Research prototype — not a medical device  |  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A22"/>
                </a:solidFill>
                <a:latin typeface="Calibri"/>
              </a:rPr>
              <a:t>Outcome of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1155680" cy="18288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Working Medical Imaging Report application with Home → Upload → Output flow.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Four ready disease models displayed in the UI with status and metrics.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Safer routing so brain MRI is not incorrectly labeled using pneumonia models.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Report page with modality, anatomy, disease assessment, findings, and exports.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Repository published: github.com/Thirthaprasadcn/medical-disease-prediction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Regulatory documentation track prepared (intended use, ISO/IEC outlines).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A4B56"/>
                </a:solidFill>
                <a:latin typeface="Calibri"/>
              </a:rPr>
              <a:t>Medical Disease Prediction  |  Research prototype — not a medical device  |  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A22"/>
                </a:solidFill>
                <a:latin typeface="Calibri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1155680" cy="18288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C7C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0C7C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Dataset / proxy</a:t>
                      </a:r>
                    </a:p>
                  </a:txBody>
                  <a:tcPr>
                    <a:solidFill>
                      <a:srgbClr val="0C7C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C7C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Brain tumor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4-class MRI tumor typing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Brain tumor MRI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Accuracy ≈ 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Pneumonia CNN</a:t>
                      </a:r>
                    </a:p>
                  </a:txBody>
                  <a:tcPr>
                    <a:solidFill>
                      <a:srgbClr val="E8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Pneumonia vs normal</a:t>
                      </a:r>
                    </a:p>
                  </a:txBody>
                  <a:tcPr>
                    <a:solidFill>
                      <a:srgbClr val="E8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PneumoniaMNIST</a:t>
                      </a:r>
                    </a:p>
                  </a:txBody>
                  <a:tcPr>
                    <a:solidFill>
                      <a:srgbClr val="E8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Accuracy ≈ 87%</a:t>
                      </a:r>
                    </a:p>
                  </a:txBody>
                  <a:tcPr>
                    <a:solidFill>
                      <a:srgbClr val="E8F5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CT nodule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Nodule vs no nodule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NoduleMNIST3D slices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Accuracy ≈ 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Brain Mini-UNet</a:t>
                      </a:r>
                    </a:p>
                  </a:txBody>
                  <a:tcPr>
                    <a:solidFill>
                      <a:srgbClr val="E8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Tumor region mask</a:t>
                      </a:r>
                    </a:p>
                  </a:txBody>
                  <a:tcPr>
                    <a:solidFill>
                      <a:srgbClr val="E8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MRI + weak masks</a:t>
                      </a:r>
                    </a:p>
                  </a:txBody>
                  <a:tcPr>
                    <a:solidFill>
                      <a:srgbClr val="E8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A22"/>
                          </a:solidFill>
                          <a:latin typeface="Calibri"/>
                        </a:rPr>
                        <a:t>Dice ≈ 77%</a:t>
                      </a:r>
                    </a:p>
                  </a:txBody>
                  <a:tcPr>
                    <a:solidFill>
                      <a:srgbClr val="E8F5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3035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A4B56"/>
                </a:solidFill>
                <a:latin typeface="Calibri"/>
              </a:rPr>
              <a:t>Metrics are research/demo results on public proxies — not clinical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A4B56"/>
                </a:solidFill>
                <a:latin typeface="Calibri"/>
              </a:rPr>
              <a:t>Medical Disease Prediction  |  Research prototype — not a medical device  |  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A22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1155680" cy="18288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Multi-modality disease prediction requires separate models and correct routing.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The system delivers an end-to-end research workflow from upload to signed report.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Limitations: not FDA/CDSCO cleared; CT/BraTS paths use research proxy training.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Future work: full LIDC/BraTS clinical training, larger hospital datasets, tighter PACS integration.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Overall, the project demonstrates a practical industrial-style imaging AI console.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A4B56"/>
                </a:solidFill>
                <a:latin typeface="Calibri"/>
              </a:rPr>
              <a:t>Medical Disease Prediction  |  Research prototype — not a medical device  |  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A22"/>
                </a:solidFill>
                <a:latin typeface="Calibri"/>
              </a:rPr>
              <a:t>References</a:t>
            </a:r>
          </a:p>
          <a:p>
            <a:r>
              <a:rPr sz="1400" b="0">
                <a:solidFill>
                  <a:srgbClr val="3A4B56"/>
                </a:solidFill>
                <a:latin typeface="Calibri"/>
              </a:rPr>
              <a:t>Sources that support this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1155680" cy="18288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MedMNIST / PneumoniaMNIST / NoduleMNIST3D — public medical imaging benchmarks.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Brain Tumor Classification MRI dataset (public class-folder MRI collections).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LIDC-IDRI — lung nodule CT dataset (TCIA) for clinical CT detection targets.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BraTS — multimodal brain tumor segmentation challenge datasets.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HL7 FHIR R4 — DiagnosticReport / Observation resources.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DICOM standard — medical image storage and transfer.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A22"/>
                </a:solidFill>
                <a:latin typeface="Calibri"/>
              </a:rPr>
              <a:t>•  Project repository: https://github.com/Thirthaprasadcn/medical-disease-prediction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A4B56"/>
                </a:solidFill>
                <a:latin typeface="Calibri"/>
              </a:rPr>
              <a:t>Medical Disease Prediction  |  Research prototype — not a medical device  |  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