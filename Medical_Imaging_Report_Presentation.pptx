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2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image" Target="../media/image-3-1.png"/><Relationship Id="rId6" Type="http://schemas.openxmlformats.org/officeDocument/2006/relationships/image" Target="../media/image-3-1.png"/><Relationship Id="rId7" Type="http://schemas.openxmlformats.org/officeDocument/2006/relationships/image" Target="../media/image-3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image" Target="../media/image-4-2.png"/><Relationship Id="rId6" Type="http://schemas.openxmlformats.org/officeDocument/2006/relationships/image" Target="../media/image-4-6.png"/><Relationship Id="rId7" Type="http://schemas.openxmlformats.org/officeDocument/2006/relationships/image" Target="../media/image-4-6.png"/><Relationship Id="rId8" Type="http://schemas.openxmlformats.org/officeDocument/2006/relationships/image" Target="../media/image-4-6.png"/><Relationship Id="rId9" Type="http://schemas.openxmlformats.org/officeDocument/2006/relationships/image" Target="../media/image-4-6.png"/><Relationship Id="rId10" Type="http://schemas.openxmlformats.org/officeDocument/2006/relationships/image" Target="../media/image-4-6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788920" cy="384048"/>
          </a:xfrm>
          <a:prstGeom prst="roundRect">
            <a:avLst>
              <a:gd name="adj" fmla="val 50000"/>
            </a:avLst>
          </a:prstGeom>
          <a:solidFill>
            <a:srgbClr val="12454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 •  WORK IN PROGRESS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Imaging Report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AI-assisted diagnostic reporting pipeline — scan upload to structured report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892040"/>
            <a:ext cx="777240" cy="777240"/>
          </a:xfrm>
          <a:prstGeom prst="ellipse">
            <a:avLst/>
          </a:prstGeom>
          <a:solidFill>
            <a:srgbClr val="12454C"/>
          </a:solidFill>
          <a:ln/>
        </p:spPr>
      </p:sp>
      <p:pic>
        <p:nvPicPr>
          <p:cNvPr id="7" name="Image 0" descr="C:\Users\sadhu\AppData\Local\Temp\claude\C--Users-sadhu-OneDrive-Desktop-medical-report\3dc9609e-4bfe-4faf-9aa6-e1a11c00885a\scratchpad\pptx\icons\FaUpload_00A8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5038344"/>
            <a:ext cx="484632" cy="4846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" y="57790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1417320" y="5280660"/>
            <a:ext cx="1737360" cy="0"/>
          </a:xfrm>
          <a:prstGeom prst="line">
            <a:avLst/>
          </a:prstGeom>
          <a:noFill/>
          <a:ln w="19050">
            <a:solidFill>
              <a:srgbClr val="2B6469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3154680" y="4892040"/>
            <a:ext cx="777240" cy="777240"/>
          </a:xfrm>
          <a:prstGeom prst="ellipse">
            <a:avLst/>
          </a:prstGeom>
          <a:solidFill>
            <a:srgbClr val="12454C"/>
          </a:solidFill>
          <a:ln/>
        </p:spPr>
      </p:sp>
      <p:pic>
        <p:nvPicPr>
          <p:cNvPr id="11" name="Image 1" descr="C:\Users\sadhu\AppData\Local\Temp\claude\C--Users-sadhu-OneDrive-Desktop-medical-report\3dc9609e-4bfe-4faf-9aa6-e1a11c00885a\scratchpad\pptx\icons\FaMicroscope_00A89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984" y="5038344"/>
            <a:ext cx="484632" cy="4846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51760" y="57790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931920" y="5280660"/>
            <a:ext cx="1737360" cy="0"/>
          </a:xfrm>
          <a:prstGeom prst="line">
            <a:avLst/>
          </a:prstGeom>
          <a:noFill/>
          <a:ln w="19050">
            <a:solidFill>
              <a:srgbClr val="2B6469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5669280" y="4892040"/>
            <a:ext cx="777240" cy="777240"/>
          </a:xfrm>
          <a:prstGeom prst="ellipse">
            <a:avLst/>
          </a:prstGeom>
          <a:solidFill>
            <a:srgbClr val="12454C"/>
          </a:solidFill>
          <a:ln/>
        </p:spPr>
      </p:sp>
      <p:pic>
        <p:nvPicPr>
          <p:cNvPr id="15" name="Image 2" descr="C:\Users\sadhu\AppData\Local\Temp\claude\C--Users-sadhu-OneDrive-Desktop-medical-report\3dc9609e-4bfe-4faf-9aa6-e1a11c00885a\scratchpad\pptx\icons\FaCogs_00A89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584" y="5038344"/>
            <a:ext cx="484632" cy="4846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66360" y="57790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446520" y="5280660"/>
            <a:ext cx="1737360" cy="0"/>
          </a:xfrm>
          <a:prstGeom prst="line">
            <a:avLst/>
          </a:prstGeom>
          <a:noFill/>
          <a:ln w="19050">
            <a:solidFill>
              <a:srgbClr val="2B6469"/>
            </a:solidFill>
            <a:prstDash val="dash"/>
          </a:ln>
        </p:spPr>
      </p:sp>
      <p:sp>
        <p:nvSpPr>
          <p:cNvPr id="18" name="Shape 13"/>
          <p:cNvSpPr/>
          <p:nvPr/>
        </p:nvSpPr>
        <p:spPr>
          <a:xfrm>
            <a:off x="8183880" y="4892040"/>
            <a:ext cx="777240" cy="777240"/>
          </a:xfrm>
          <a:prstGeom prst="ellipse">
            <a:avLst/>
          </a:prstGeom>
          <a:solidFill>
            <a:srgbClr val="12454C"/>
          </a:solidFill>
          <a:ln/>
        </p:spPr>
      </p:sp>
      <p:pic>
        <p:nvPicPr>
          <p:cNvPr id="19" name="Image 3" descr="C:\Users\sadhu\AppData\Local\Temp\claude\C--Users-sadhu-OneDrive-Desktop-medical-report\3dc9609e-4bfe-4faf-9aa6-e1a11c00885a\scratchpad\pptx\icons\FaClipboardList_02C39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0184" y="5038344"/>
            <a:ext cx="484632" cy="4846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680960" y="57790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8961120" y="5280660"/>
            <a:ext cx="1737360" cy="0"/>
          </a:xfrm>
          <a:prstGeom prst="line">
            <a:avLst/>
          </a:prstGeom>
          <a:noFill/>
          <a:ln w="19050">
            <a:solidFill>
              <a:srgbClr val="2B6469"/>
            </a:solidFill>
            <a:prstDash val="dash"/>
          </a:ln>
        </p:spPr>
      </p:sp>
      <p:sp>
        <p:nvSpPr>
          <p:cNvPr id="22" name="Shape 16"/>
          <p:cNvSpPr/>
          <p:nvPr/>
        </p:nvSpPr>
        <p:spPr>
          <a:xfrm>
            <a:off x="10698480" y="4892040"/>
            <a:ext cx="777240" cy="777240"/>
          </a:xfrm>
          <a:prstGeom prst="ellipse">
            <a:avLst/>
          </a:prstGeom>
          <a:solidFill>
            <a:srgbClr val="12454C"/>
          </a:solidFill>
          <a:ln/>
        </p:spPr>
      </p:sp>
      <p:pic>
        <p:nvPicPr>
          <p:cNvPr id="23" name="Image 4" descr="C:\Users\sadhu\AppData\Local\Temp\claude\C--Users-sadhu-OneDrive-Desktop-medical-report\3dc9609e-4bfe-4faf-9aa6-e1a11c00885a\scratchpad\pptx\icons\FaUserMd_02809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4784" y="5038344"/>
            <a:ext cx="484632" cy="4846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195560" y="57790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Review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64008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the Medical Imaging Report team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C:\Users\sadhu\AppData\Local\Temp\claude\C--Users-sadhu-OneDrive-Desktop-medical-report\3dc9609e-4bfe-4faf-9aa6-e1a11c00885a\scratchpad\pptx\icons\FaFileMedical_028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scaffold that takes a single uploaded scan image and returns a structured report: candidate findings with location, size and confidence, a plain-language note per finding, and an annotated overlay image.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48640" y="260604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on the full industrial pipeline: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9260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 →  Preprocessing  →  Inference  →  Report  →  Clinician Review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520440"/>
            <a:ext cx="402336" cy="402336"/>
          </a:xfrm>
          <a:prstGeom prst="ellipse">
            <a:avLst/>
          </a:prstGeom>
          <a:solidFill>
            <a:srgbClr val="F2F8F8"/>
          </a:solidFill>
          <a:ln/>
        </p:spPr>
      </p:sp>
      <p:pic>
        <p:nvPicPr>
          <p:cNvPr id="9" name="Image 1" descr="C:\Users\sadhu\AppData\Local\Temp\claude\C--Users-sadhu-OneDrive-Desktop-medical-report\3dc9609e-4bfe-4faf-9aa6-e1a11c00885a\scratchpad\pptx\icons\FaCogs_00A89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1188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349300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97280" y="376732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+ web frontend, no external data or GPU cluster required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361688"/>
            <a:ext cx="402336" cy="402336"/>
          </a:xfrm>
          <a:prstGeom prst="ellipse">
            <a:avLst/>
          </a:prstGeom>
          <a:solidFill>
            <a:srgbClr val="F2F8F8"/>
          </a:solidFill>
          <a:ln/>
        </p:spPr>
      </p:sp>
      <p:pic>
        <p:nvPicPr>
          <p:cNvPr id="13" name="Image 2" descr="C:\Users\sadhu\AppData\Local\Temp\claude\C--Users-sadhu-OneDrive-Desktop-medical-report\3dc9609e-4bfe-4faf-9aa6-e1a11c00885a\scratchpad\pptx\icons\FaFlask_02809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453128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433425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trained model wired in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97280" y="460857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 classifier with genuine test-set metrics, integrated end-to-end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5202936"/>
            <a:ext cx="402336" cy="402336"/>
          </a:xfrm>
          <a:prstGeom prst="ellipse">
            <a:avLst/>
          </a:prstGeom>
          <a:solidFill>
            <a:srgbClr val="F2F8F8"/>
          </a:solidFill>
          <a:ln/>
        </p:spPr>
      </p:sp>
      <p:pic>
        <p:nvPicPr>
          <p:cNvPr id="17" name="Image 3" descr="C:\Users\sadhu\AppData\Local\Temp\claude\C--Users-sadhu-OneDrive-Desktop-medical-report\3dc9609e-4bfe-4faf-9aa6-e1a11c00885a\scratchpad\pptx\icons\FaExclamationTriangle_B8504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294376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5175504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scoped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097280" y="544982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CT/MRI clinical model, not a medical device, not PACS/RIS/FHIR-connected — yet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7086600" y="1417320"/>
            <a:ext cx="4526280" cy="4892040"/>
          </a:xfrm>
          <a:prstGeom prst="roundRect">
            <a:avLst>
              <a:gd name="adj" fmla="val 2424"/>
            </a:avLst>
          </a:prstGeom>
          <a:solidFill>
            <a:srgbClr val="F2F8F8"/>
          </a:solidFill>
          <a:ln/>
        </p:spPr>
      </p:sp>
      <p:sp>
        <p:nvSpPr>
          <p:cNvPr id="21" name="Text 15"/>
          <p:cNvSpPr/>
          <p:nvPr/>
        </p:nvSpPr>
        <p:spPr>
          <a:xfrm>
            <a:off x="7406640" y="16276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Today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7406640" y="214884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4" descr="C:\Users\sadhu\AppData\Local\Temp\claude\C--Users-sadhu-OneDrive-Desktop-medical-report\3dc9609e-4bfe-4faf-9aa6-e1a11c00885a\scratchpad\pptx\icons\FaUpload_00A89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6368" y="2258568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092440" y="21305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8092440" y="239572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PNG/JPG upload, scan_id assigned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7662672" y="2660904"/>
            <a:ext cx="0" cy="329184"/>
          </a:xfrm>
          <a:prstGeom prst="line">
            <a:avLst/>
          </a:prstGeom>
          <a:noFill/>
          <a:ln w="19050">
            <a:solidFill>
              <a:srgbClr val="BFE3E0"/>
            </a:solidFill>
            <a:prstDash val="dash"/>
          </a:ln>
        </p:spPr>
      </p:sp>
      <p:sp>
        <p:nvSpPr>
          <p:cNvPr id="27" name="Shape 20"/>
          <p:cNvSpPr/>
          <p:nvPr/>
        </p:nvSpPr>
        <p:spPr>
          <a:xfrm>
            <a:off x="7406640" y="299008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5" descr="C:\Users\sadhu\AppData\Local\Temp\claude\C--Users-sadhu-OneDrive-Desktop-medical-report\3dc9609e-4bfe-4faf-9aa6-e1a11c00885a\scratchpad\pptx\icons\FaMicroscope_00A89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6368" y="3099816"/>
            <a:ext cx="292608" cy="29260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092440" y="29718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8092440" y="323697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Resize, denoise, CLAHE contrast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7662672" y="3502152"/>
            <a:ext cx="0" cy="329184"/>
          </a:xfrm>
          <a:prstGeom prst="line">
            <a:avLst/>
          </a:prstGeom>
          <a:noFill/>
          <a:ln w="19050">
            <a:solidFill>
              <a:srgbClr val="BFE3E0"/>
            </a:solidFill>
            <a:prstDash val="dash"/>
          </a:ln>
        </p:spPr>
      </p:sp>
      <p:sp>
        <p:nvSpPr>
          <p:cNvPr id="32" name="Shape 24"/>
          <p:cNvSpPr/>
          <p:nvPr/>
        </p:nvSpPr>
        <p:spPr>
          <a:xfrm>
            <a:off x="7406640" y="3831336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6" descr="C:\Users\sadhu\AppData\Local\Temp\claude\C--Users-sadhu-OneDrive-Desktop-medical-report\3dc9609e-4bfe-4faf-9aa6-e1a11c00885a\scratchpad\pptx\icons\FaCogs_00A89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6368" y="3941064"/>
            <a:ext cx="292608" cy="29260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092440" y="38130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8092440" y="4078224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detection + trained classifier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7662672" y="4343400"/>
            <a:ext cx="0" cy="329184"/>
          </a:xfrm>
          <a:prstGeom prst="line">
            <a:avLst/>
          </a:prstGeom>
          <a:noFill/>
          <a:ln w="19050">
            <a:solidFill>
              <a:srgbClr val="BFE3E0"/>
            </a:solidFill>
            <a:prstDash val="dash"/>
          </a:ln>
        </p:spPr>
      </p:sp>
      <p:sp>
        <p:nvSpPr>
          <p:cNvPr id="37" name="Shape 28"/>
          <p:cNvSpPr/>
          <p:nvPr/>
        </p:nvSpPr>
        <p:spPr>
          <a:xfrm>
            <a:off x="7406640" y="467258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8" name="Image 7" descr="C:\Users\sadhu\AppData\Local\Temp\claude\C--Users-sadhu-OneDrive-Desktop-medical-report\3dc9609e-4bfe-4faf-9aa6-e1a11c00885a\scratchpad\pptx\icons\FaClipboardList_02C39A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6368" y="4782312"/>
            <a:ext cx="292608" cy="292608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8092440" y="465429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</p:txBody>
      </p:sp>
      <p:sp>
        <p:nvSpPr>
          <p:cNvPr id="40" name="Text 30"/>
          <p:cNvSpPr/>
          <p:nvPr/>
        </p:nvSpPr>
        <p:spPr>
          <a:xfrm>
            <a:off x="8092440" y="491947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+ annotated overlay</a:t>
            </a:r>
            <a:endParaRPr lang="en-US" sz="1050" dirty="0"/>
          </a:p>
        </p:txBody>
      </p:sp>
      <p:sp>
        <p:nvSpPr>
          <p:cNvPr id="41" name="Shape 31"/>
          <p:cNvSpPr/>
          <p:nvPr/>
        </p:nvSpPr>
        <p:spPr>
          <a:xfrm>
            <a:off x="7662672" y="5184648"/>
            <a:ext cx="0" cy="329184"/>
          </a:xfrm>
          <a:prstGeom prst="line">
            <a:avLst/>
          </a:prstGeom>
          <a:noFill/>
          <a:ln w="19050">
            <a:solidFill>
              <a:srgbClr val="BFE3E0"/>
            </a:solidFill>
            <a:prstDash val="dash"/>
          </a:ln>
        </p:spPr>
      </p:sp>
      <p:sp>
        <p:nvSpPr>
          <p:cNvPr id="42" name="Shape 32"/>
          <p:cNvSpPr/>
          <p:nvPr/>
        </p:nvSpPr>
        <p:spPr>
          <a:xfrm>
            <a:off x="7406640" y="551383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3" name="Image 8" descr="C:\Users\sadhu\AppData\Local\Temp\claude\C--Users-sadhu-OneDrive-Desktop-medical-report\3dc9609e-4bfe-4faf-9aa6-e1a11c00885a\scratchpad\pptx\icons\FaUserMd_028090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16368" y="5623560"/>
            <a:ext cx="292608" cy="292608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8092440" y="549554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Review</a:t>
            </a:r>
            <a:endParaRPr lang="en-US" sz="1300" dirty="0"/>
          </a:p>
        </p:txBody>
      </p:sp>
      <p:sp>
        <p:nvSpPr>
          <p:cNvPr id="45" name="Text 34"/>
          <p:cNvSpPr/>
          <p:nvPr/>
        </p:nvSpPr>
        <p:spPr>
          <a:xfrm>
            <a:off x="8092440" y="57607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/ reject stub in the frontend</a:t>
            </a:r>
            <a:endParaRPr lang="en-US" sz="1050" dirty="0"/>
          </a:p>
        </p:txBody>
      </p:sp>
      <p:sp>
        <p:nvSpPr>
          <p:cNvPr id="46" name="Text 35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 Report — Prototype</a:t>
            </a:r>
            <a:endParaRPr lang="en-US" sz="900" dirty="0"/>
          </a:p>
        </p:txBody>
      </p:sp>
      <p:sp>
        <p:nvSpPr>
          <p:cNvPr id="47" name="Text 36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" name="Image 0" descr="C:\Users\sadhu\AppData\Local\Temp\claude\C--Users-sadhu-OneDrive-Desktop-medical-report\3dc9609e-4bfe-4faf-9aa6-e1a11c00885a\scratchpad\pptx\icons\Fa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Completed &amp; Progress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2F8F8"/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1554480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7" name="Image 1" descr="C:\Users\sadhu\AppData\Local\Temp\claude\C--Users-sadhu-OneDrive-Desktop-medical-report\3dc9609e-4bfe-4faf-9aa6-e1a11c00885a\scratchpad\pptx\icons\FaChe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1655064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15361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749808" y="2084832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app: upload, report, and image endpoints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325112" y="137160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2F8F8"/>
          </a:solidFill>
          <a:ln/>
        </p:spPr>
      </p:sp>
      <p:sp>
        <p:nvSpPr>
          <p:cNvPr id="11" name="Shape 7"/>
          <p:cNvSpPr/>
          <p:nvPr/>
        </p:nvSpPr>
        <p:spPr>
          <a:xfrm>
            <a:off x="4507992" y="1554480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2" descr="C:\Users\sadhu\AppData\Local\Temp\claude\C--Users-sadhu-OneDrive-Desktop-medical-report\3dc9609e-4bfe-4faf-9aa6-e1a11c00885a\scratchpad\pptx\icons\Fa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76" y="1655064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56632" y="15361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526280" y="2084832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resize, denoise, CLAHE contrast enhancement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8101584" y="137160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2F8F8"/>
          </a:solidFill>
          <a:ln/>
        </p:spPr>
      </p:sp>
      <p:sp>
        <p:nvSpPr>
          <p:cNvPr id="16" name="Shape 11"/>
          <p:cNvSpPr/>
          <p:nvPr/>
        </p:nvSpPr>
        <p:spPr>
          <a:xfrm>
            <a:off x="8284464" y="1554480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7" name="Image 3" descr="C:\Users\sadhu\AppData\Local\Temp\claude\C--Users-sadhu-OneDrive-Desktop-medical-report\3dc9609e-4bfe-4faf-9aa6-e1a11c00885a\scratchpad\pptx\icons\Fa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048" y="1655064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833104" y="15361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detection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8302752" y="2084832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Laplacian-of-Gaussian blob detection + contrast scoring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2953512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2F8F8"/>
          </a:solidFill>
          <a:ln/>
        </p:spPr>
      </p:sp>
      <p:sp>
        <p:nvSpPr>
          <p:cNvPr id="21" name="Shape 15"/>
          <p:cNvSpPr/>
          <p:nvPr/>
        </p:nvSpPr>
        <p:spPr>
          <a:xfrm>
            <a:off x="731520" y="3136392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2" name="Image 4" descr="C:\Users\sadhu\AppData\Local\Temp\claude\C--Users-sadhu-OneDrive-Desktop-medical-report\3dc9609e-4bfe-4faf-9aa6-e1a11c00885a\scratchpad\pptx\icons\FaChec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3236976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80160" y="311810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CNN classifier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749808" y="3666744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SmallCNN trained on PneumoniaMNIST with real test metrics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325112" y="2953512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2F8F8"/>
          </a:solidFill>
          <a:ln/>
        </p:spPr>
      </p:sp>
      <p:sp>
        <p:nvSpPr>
          <p:cNvPr id="26" name="Shape 19"/>
          <p:cNvSpPr/>
          <p:nvPr/>
        </p:nvSpPr>
        <p:spPr>
          <a:xfrm>
            <a:off x="4507992" y="3136392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7" name="Image 5" descr="C:\Users\sadhu\AppData\Local\Temp\claude\C--Users-sadhu-OneDrive-Desktop-medical-report\3dc9609e-4bfe-4faf-9aa6-e1a11c00885a\scratchpad\pptx\icons\FaCheck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8576" y="3236976"/>
            <a:ext cx="219456" cy="21945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056632" y="311810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4526280" y="3666744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report + annotated overlay image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8101584" y="2953512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2F8F8"/>
          </a:solidFill>
          <a:ln/>
        </p:spPr>
      </p:sp>
      <p:sp>
        <p:nvSpPr>
          <p:cNvPr id="31" name="Shape 23"/>
          <p:cNvSpPr/>
          <p:nvPr/>
        </p:nvSpPr>
        <p:spPr>
          <a:xfrm>
            <a:off x="8284464" y="3136392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2" name="Image 6" descr="C:\Users\sadhu\AppData\Local\Temp\claude\C--Users-sadhu-OneDrive-Desktop-medical-report\3dc9609e-4bfe-4faf-9aa6-e1a11c00885a\scratchpad\pptx\icons\FaCheck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5048" y="3236976"/>
            <a:ext cx="219456" cy="21945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833104" y="311810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34" name="Text 25"/>
          <p:cNvSpPr/>
          <p:nvPr/>
        </p:nvSpPr>
        <p:spPr>
          <a:xfrm>
            <a:off x="8302752" y="3666744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page, findings view, and review accept/reject stub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028090"/>
          </a:solidFill>
          <a:ln/>
        </p:spPr>
      </p:sp>
      <p:sp>
        <p:nvSpPr>
          <p:cNvPr id="36" name="Text 27"/>
          <p:cNvSpPr/>
          <p:nvPr/>
        </p:nvSpPr>
        <p:spPr>
          <a:xfrm>
            <a:off x="868680" y="48463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7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trained-model metrics — reported on every generated report, not asserted</a:t>
            </a:r>
            <a:endParaRPr lang="en-US" sz="1250" dirty="0"/>
          </a:p>
        </p:txBody>
      </p:sp>
      <p:sp>
        <p:nvSpPr>
          <p:cNvPr id="37" name="Text 28"/>
          <p:cNvSpPr/>
          <p:nvPr/>
        </p:nvSpPr>
        <p:spPr>
          <a:xfrm>
            <a:off x="548640" y="5166360"/>
            <a:ext cx="27660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0.961</a:t>
            </a:r>
            <a:endParaRPr lang="en-US" sz="3000" dirty="0"/>
          </a:p>
        </p:txBody>
      </p:sp>
      <p:sp>
        <p:nvSpPr>
          <p:cNvPr id="38" name="Text 29"/>
          <p:cNvSpPr/>
          <p:nvPr/>
        </p:nvSpPr>
        <p:spPr>
          <a:xfrm>
            <a:off x="548640" y="5715000"/>
            <a:ext cx="27660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3314700" y="5166360"/>
            <a:ext cx="27660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86.7%</a:t>
            </a:r>
            <a:endParaRPr lang="en-US" sz="3000" dirty="0"/>
          </a:p>
        </p:txBody>
      </p:sp>
      <p:sp>
        <p:nvSpPr>
          <p:cNvPr id="40" name="Text 31"/>
          <p:cNvSpPr/>
          <p:nvPr/>
        </p:nvSpPr>
        <p:spPr>
          <a:xfrm>
            <a:off x="3314700" y="5715000"/>
            <a:ext cx="27660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41" name="Text 32"/>
          <p:cNvSpPr/>
          <p:nvPr/>
        </p:nvSpPr>
        <p:spPr>
          <a:xfrm>
            <a:off x="6080760" y="5166360"/>
            <a:ext cx="27660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99.2%</a:t>
            </a:r>
            <a:endParaRPr lang="en-US" sz="3000" dirty="0"/>
          </a:p>
        </p:txBody>
      </p:sp>
      <p:sp>
        <p:nvSpPr>
          <p:cNvPr id="42" name="Text 33"/>
          <p:cNvSpPr/>
          <p:nvPr/>
        </p:nvSpPr>
        <p:spPr>
          <a:xfrm>
            <a:off x="6080760" y="5715000"/>
            <a:ext cx="27660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1100" dirty="0"/>
          </a:p>
        </p:txBody>
      </p:sp>
      <p:sp>
        <p:nvSpPr>
          <p:cNvPr id="43" name="Text 34"/>
          <p:cNvSpPr/>
          <p:nvPr/>
        </p:nvSpPr>
        <p:spPr>
          <a:xfrm>
            <a:off x="8846820" y="5166360"/>
            <a:ext cx="27660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65.8%</a:t>
            </a:r>
            <a:endParaRPr lang="en-US" sz="3000" dirty="0"/>
          </a:p>
        </p:txBody>
      </p:sp>
      <p:sp>
        <p:nvSpPr>
          <p:cNvPr id="44" name="Text 35"/>
          <p:cNvSpPr/>
          <p:nvPr/>
        </p:nvSpPr>
        <p:spPr>
          <a:xfrm>
            <a:off x="8846820" y="5715000"/>
            <a:ext cx="27660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1100" dirty="0"/>
          </a:p>
        </p:txBody>
      </p:sp>
      <p:sp>
        <p:nvSpPr>
          <p:cNvPr id="45" name="Text 36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C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PneumoniaMNIST held-out test set, n = 624</a:t>
            </a:r>
            <a:endParaRPr lang="en-US" sz="1000" dirty="0"/>
          </a:p>
        </p:txBody>
      </p:sp>
      <p:sp>
        <p:nvSpPr>
          <p:cNvPr id="46" name="Text 37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 Report — Prototype</a:t>
            </a:r>
            <a:endParaRPr lang="en-US" sz="900" dirty="0"/>
          </a:p>
        </p:txBody>
      </p:sp>
      <p:sp>
        <p:nvSpPr>
          <p:cNvPr id="47" name="Text 38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C:\Users\sadhu\AppData\Local\Temp\claude\C--Users-sadhu-OneDrive-Desktop-medical-report\3dc9609e-4bfe-4faf-9aa6-e1a11c00885a\scratchpad\pptx\icons\FaCogs_00A8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Development Status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FDF1D9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2344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A6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FUNCTIONAL PROTOTYPE, NOT CLINICAL-GRADE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F2F8F8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07568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Today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2606040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C:\Users\sadhu\AppData\Local\Temp\claude\C--Users-sadhu-OneDrive-Desktop-medical-report\3dc9609e-4bfe-4faf-9aa6-e1a11c00885a\scratchpad\pptx\icons\FaChe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679192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98448" y="2551176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runs locally, upload to report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22960" y="3447288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2" descr="C:\Users\sadhu\AppData\Local\Temp\claude\C--Users-sadhu-OneDrive-Desktop-medical-report\3dc9609e-4bfe-4faf-9aa6-e1a11c00885a\scratchpad\pptx\icons\Fa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520440"/>
            <a:ext cx="164592" cy="1645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98448" y="3392424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trained CNN integrated with genuine test metrics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22960" y="4288536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3" descr="C:\Users\sadhu\AppData\Local\Temp\claude\C--Users-sadhu-OneDrive-Desktop-medical-report\3dc9609e-4bfe-4faf-9aa6-e1a11c00885a\scratchpad\pptx\icons\Fa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361688"/>
            <a:ext cx="164592" cy="16459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98448" y="423367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report plus annotated overlay image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822960" y="5129784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9" name="Image 4" descr="C:\Users\sadhu\AppData\Local\Temp\claude\C--Users-sadhu-OneDrive-Desktop-medical-report\3dc9609e-4bfe-4faf-9aa6-e1a11c00885a\scratchpad\pptx\icons\FaChec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202936"/>
            <a:ext cx="164592" cy="16459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98448" y="507492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CPU — no external data or GPU cluster needed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6172200" y="187452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FBEEEC"/>
          </a:solidFill>
          <a:ln/>
        </p:spPr>
      </p:sp>
      <p:sp>
        <p:nvSpPr>
          <p:cNvPr id="22" name="Text 15"/>
          <p:cNvSpPr/>
          <p:nvPr/>
        </p:nvSpPr>
        <p:spPr>
          <a:xfrm>
            <a:off x="6446520" y="207568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6446520" y="2606040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4" name="Image 5" descr="C:\Users\sadhu\AppData\Local\Temp\claude\C--Users-sadhu-OneDrive-Desktop-medical-report\3dc9609e-4bfe-4faf-9aa6-e1a11c00885a\scratchpad\pptx\icons\FaExclamationTriangle_B8504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2674620"/>
            <a:ext cx="173736" cy="17373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22008" y="2551176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is a classical CV heuristic, not a trained model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6446520" y="3319272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7" name="Image 6" descr="C:\Users\sadhu\AppData\Local\Temp\claude\C--Users-sadhu-OneDrive-Desktop-medical-report\3dc9609e-4bfe-4faf-9aa6-e1a11c00885a\scratchpad\pptx\icons\FaExclamationTriangle_B8504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3387852"/>
            <a:ext cx="173736" cy="17373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922008" y="3264408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trained on a chest X-ray benchmark, not CT/MRI or hospital data</a:t>
            </a:r>
            <a:endParaRPr lang="en-US" sz="1250" dirty="0"/>
          </a:p>
        </p:txBody>
      </p:sp>
      <p:sp>
        <p:nvSpPr>
          <p:cNvPr id="29" name="Shape 20"/>
          <p:cNvSpPr/>
          <p:nvPr/>
        </p:nvSpPr>
        <p:spPr>
          <a:xfrm>
            <a:off x="6446520" y="4032504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30" name="Image 7" descr="C:\Users\sadhu\AppData\Local\Temp\claude\C--Users-sadhu-OneDrive-Desktop-medical-report\3dc9609e-4bfe-4faf-9aa6-e1a11c00885a\scratchpad\pptx\icons\FaExclamationTriangle_B8504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0" y="4101084"/>
            <a:ext cx="173736" cy="173736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922008" y="397764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PNG/JPG only — no DICOM ingestion yet</a:t>
            </a:r>
            <a:endParaRPr lang="en-US" sz="1250" dirty="0"/>
          </a:p>
        </p:txBody>
      </p:sp>
      <p:sp>
        <p:nvSpPr>
          <p:cNvPr id="32" name="Shape 22"/>
          <p:cNvSpPr/>
          <p:nvPr/>
        </p:nvSpPr>
        <p:spPr>
          <a:xfrm>
            <a:off x="6446520" y="4745736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33" name="Image 8" descr="C:\Users\sadhu\AppData\Local\Temp\claude\C--Users-sadhu-OneDrive-Desktop-medical-report\3dc9609e-4bfe-4faf-9aa6-e1a11c00885a\scratchpad\pptx\icons\FaExclamationTriangle_B8504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5100" y="4814316"/>
            <a:ext cx="173736" cy="173736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922008" y="4690872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PACS / RIS / FHIR integration</a:t>
            </a:r>
            <a:endParaRPr lang="en-US" sz="1250" dirty="0"/>
          </a:p>
        </p:txBody>
      </p:sp>
      <p:sp>
        <p:nvSpPr>
          <p:cNvPr id="35" name="Shape 24"/>
          <p:cNvSpPr/>
          <p:nvPr/>
        </p:nvSpPr>
        <p:spPr>
          <a:xfrm>
            <a:off x="6446520" y="5458968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36" name="Image 9" descr="C:\Users\sadhu\AppData\Local\Temp\claude\C--Users-sadhu-OneDrive-Desktop-medical-report\3dc9609e-4bfe-4faf-9aa6-e1a11c00885a\scratchpad\pptx\icons\FaExclamationTriangle_B8504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5100" y="5527548"/>
            <a:ext cx="173736" cy="173736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6922008" y="5404104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regulatory clearance — not a medical device</a:t>
            </a:r>
            <a:endParaRPr lang="en-US" sz="1250" dirty="0"/>
          </a:p>
        </p:txBody>
      </p:sp>
      <p:sp>
        <p:nvSpPr>
          <p:cNvPr id="38" name="Text 26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 Report — Prototype</a:t>
            </a:r>
            <a:endParaRPr lang="en-US" sz="900" dirty="0"/>
          </a:p>
        </p:txBody>
      </p:sp>
      <p:sp>
        <p:nvSpPr>
          <p:cNvPr id="39" name="Text 27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" name="Image 0" descr="C:\Users\sadhu\AppData\Local\Temp\claude\C--Users-sadhu-OneDrive-Desktop-medical-report\3dc9609e-4bfe-4faf-9aa6-e1a11c00885a\scratchpad\pptx\icons\FaLightbulb_02C39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2F8F8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1" descr="C:\Users\sadhu\AppData\Local\Temp\claude\C--Users-sadhu-OneDrive-Desktop-medical-report\3dc9609e-4bfe-4faf-9aa6-e1a11c00885a\scratchpad\pptx\icons\FaChe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1746504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160020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the pipeline works end-to-end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77240" y="22860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reference implementation, from image upload to a structured, reviewable report.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172200" y="141732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2F8F8"/>
          </a:solidFill>
          <a:ln/>
        </p:spPr>
      </p:sp>
      <p:sp>
        <p:nvSpPr>
          <p:cNvPr id="11" name="Shape 7"/>
          <p:cNvSpPr/>
          <p:nvPr/>
        </p:nvSpPr>
        <p:spPr>
          <a:xfrm>
            <a:off x="6400800" y="16459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2" descr="C:\Users\sadhu\AppData\Local\Temp\claude\C--Users-sadhu-OneDrive-Desktop-medical-report\3dc9609e-4bfe-4faf-9aa6-e1a11c00885a\scratchpad\pptx\icons\Fa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1746504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40880" y="160020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marked extension point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400800" y="22860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detect_findings() and classify() are the seam where a CT/MRI-specific model plugs in — no other code changes.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" y="338328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2F8F8"/>
          </a:solidFill>
          <a:ln/>
        </p:spPr>
      </p:sp>
      <p:sp>
        <p:nvSpPr>
          <p:cNvPr id="16" name="Shape 11"/>
          <p:cNvSpPr/>
          <p:nvPr/>
        </p:nvSpPr>
        <p:spPr>
          <a:xfrm>
            <a:off x="777240" y="36118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3" descr="C:\Users\sadhu\AppData\Local\Temp\claude\C--Users-sadhu-OneDrive-Desktop-medical-report\3dc9609e-4bfe-4faf-9aa6-e1a11c00885a\scratchpad\pptx\icons\Fa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3712464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356616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 for the full plan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77240" y="425196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to the ingestion → preprocessing → inference → report → review architecture already scoped.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172200" y="338328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2F8F8"/>
          </a:solidFill>
          <a:ln/>
        </p:spPr>
      </p:sp>
      <p:sp>
        <p:nvSpPr>
          <p:cNvPr id="21" name="Shape 15"/>
          <p:cNvSpPr/>
          <p:nvPr/>
        </p:nvSpPr>
        <p:spPr>
          <a:xfrm>
            <a:off x="6400800" y="36118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4" descr="C:\Users\sadhu\AppData\Local\Temp\claude\C--Users-sadhu-OneDrive-Desktop-medical-report\3dc9609e-4bfe-4faf-9aa6-e1a11c00885a\scratchpad\pptx\icons\FaChec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3712464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040880" y="356616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honest reporting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6400800" y="425196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metrics are measured and disclosed on every report, not asserted or hidden.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548640" y="5120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intended extension point: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548640" y="54864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5C7A7F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685800" y="54864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detector + benchmark classifier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3749040" y="5769864"/>
            <a:ext cx="9144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dash"/>
            <a:tailEnd type="triangle"/>
          </a:ln>
        </p:spPr>
      </p:sp>
      <p:sp>
        <p:nvSpPr>
          <p:cNvPr id="29" name="Shape 22"/>
          <p:cNvSpPr/>
          <p:nvPr/>
        </p:nvSpPr>
        <p:spPr>
          <a:xfrm>
            <a:off x="4663440" y="5486400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028090"/>
          </a:solidFill>
          <a:ln/>
        </p:spPr>
      </p:sp>
      <p:sp>
        <p:nvSpPr>
          <p:cNvPr id="30" name="Text 23"/>
          <p:cNvSpPr/>
          <p:nvPr/>
        </p:nvSpPr>
        <p:spPr>
          <a:xfrm>
            <a:off x="4800600" y="54864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CT/MRI-specific trained model (nnU-Net / nnDetection)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 Report — Prototype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C:\Users\sadhu\AppData\Local\Temp\claude\C--Users-sadhu-OneDrive-Desktop-medical-report\3dc9609e-4bfe-4faf-9aa6-e1a11c00885a\scratchpad\pptx\icons\FaRoa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280160" y="10241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toward the full industrial plan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15568" y="1783080"/>
            <a:ext cx="4782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DICOM ingestion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15568" y="2103120"/>
            <a:ext cx="4782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PNG/JPG upload with pydicom + pynetdicom for standard clinical studies.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58952" y="2249424"/>
            <a:ext cx="0" cy="1060704"/>
          </a:xfrm>
          <a:prstGeom prst="line">
            <a:avLst/>
          </a:prstGeom>
          <a:noFill/>
          <a:ln w="19050">
            <a:solidFill>
              <a:srgbClr val="BFE3E0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548640" y="3310128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3310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15568" y="3264408"/>
            <a:ext cx="4782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CT/MRI-specific trained models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115568" y="3584448"/>
            <a:ext cx="4782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nnU-Net / nnDetection on LIDC-IDRI and BraTS in place of the current heuristic and benchmark classifier.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58952" y="3730752"/>
            <a:ext cx="0" cy="1060704"/>
          </a:xfrm>
          <a:prstGeom prst="line">
            <a:avLst/>
          </a:prstGeom>
          <a:noFill/>
          <a:ln w="19050">
            <a:solidFill>
              <a:srgbClr val="BFE3E0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548640" y="4791456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4791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15568" y="4745736"/>
            <a:ext cx="4782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 &amp; validation gate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115568" y="5065776"/>
            <a:ext cx="4782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checks before any model swap reaches the running pipeline.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263640" y="1828800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8"/>
          <p:cNvSpPr/>
          <p:nvPr/>
        </p:nvSpPr>
        <p:spPr>
          <a:xfrm>
            <a:off x="626364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830568" y="1783080"/>
            <a:ext cx="4782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DiagnosticReport output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6830568" y="2103120"/>
            <a:ext cx="4782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local JSON with a standards-based report format for system integration.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473952" y="2249424"/>
            <a:ext cx="0" cy="1060704"/>
          </a:xfrm>
          <a:prstGeom prst="line">
            <a:avLst/>
          </a:prstGeom>
          <a:noFill/>
          <a:ln w="19050">
            <a:solidFill>
              <a:srgbClr val="BFE3E0"/>
            </a:solidFill>
            <a:prstDash val="dash"/>
          </a:ln>
        </p:spPr>
      </p:sp>
      <p:sp>
        <p:nvSpPr>
          <p:cNvPr id="25" name="Shape 22"/>
          <p:cNvSpPr/>
          <p:nvPr/>
        </p:nvSpPr>
        <p:spPr>
          <a:xfrm>
            <a:off x="6263640" y="3310128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3"/>
          <p:cNvSpPr/>
          <p:nvPr/>
        </p:nvSpPr>
        <p:spPr>
          <a:xfrm>
            <a:off x="6263640" y="3310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830568" y="3264408"/>
            <a:ext cx="4782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/ QMS track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6830568" y="3584448"/>
            <a:ext cx="4782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toward ISO 13485, IEC 62304, and CDSCO/FDA clearance requirements.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473952" y="3730752"/>
            <a:ext cx="0" cy="1060704"/>
          </a:xfrm>
          <a:prstGeom prst="line">
            <a:avLst/>
          </a:prstGeom>
          <a:noFill/>
          <a:ln w="19050">
            <a:solidFill>
              <a:srgbClr val="BFE3E0"/>
            </a:solidFill>
            <a:prstDash val="dash"/>
          </a:ln>
        </p:spPr>
      </p:sp>
      <p:sp>
        <p:nvSpPr>
          <p:cNvPr id="30" name="Shape 27"/>
          <p:cNvSpPr/>
          <p:nvPr/>
        </p:nvSpPr>
        <p:spPr>
          <a:xfrm>
            <a:off x="6263640" y="4791456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8"/>
          <p:cNvSpPr/>
          <p:nvPr/>
        </p:nvSpPr>
        <p:spPr>
          <a:xfrm>
            <a:off x="6263640" y="4791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830568" y="4745736"/>
            <a:ext cx="4782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PACS/RIS integration &amp; richer review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6830568" y="5065776"/>
            <a:ext cx="4782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hospital systems and expand the accept/reject stub into a full clinician workflow.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 Report — Prototype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2454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943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6675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already has a real, running pipeline — upload to structured report — with one genuine trained-model integration, honestly scoped as a prototype rather than a clinical product. What's ahead is well-defined: swap in CT/MRI-specific models, add DICOM and FHIR support, and pursue the regulatory track needed for real clinical use.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977640"/>
            <a:ext cx="420624" cy="420624"/>
          </a:xfrm>
          <a:prstGeom prst="ellipse">
            <a:avLst/>
          </a:prstGeom>
          <a:solidFill>
            <a:srgbClr val="12454C"/>
          </a:solidFill>
          <a:ln/>
        </p:spPr>
      </p:sp>
      <p:pic>
        <p:nvPicPr>
          <p:cNvPr id="7" name="Image 0" descr="C:\Users\sadhu\AppData\Local\Temp\claude\C--Users-sadhu-OneDrive-Desktop-medical-report\3dc9609e-4bfe-4faf-9aa6-e1a11c00885a\scratchpad\pptx\icons\Fa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069080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397764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pipeline running end-to-end today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4599432"/>
            <a:ext cx="420624" cy="420624"/>
          </a:xfrm>
          <a:prstGeom prst="ellipse">
            <a:avLst/>
          </a:prstGeom>
          <a:solidFill>
            <a:srgbClr val="12454C"/>
          </a:solidFill>
          <a:ln/>
        </p:spPr>
      </p:sp>
      <p:pic>
        <p:nvPicPr>
          <p:cNvPr id="10" name="Image 1" descr="C:\Users\sadhu\AppData\Local\Temp\claude\C--Users-sadhu-OneDrive-Desktop-medical-report\3dc9609e-4bfe-4faf-9aa6-e1a11c00885a\scratchpad\pptx\icons\FaExclamationTriangle_B8504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690872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4599432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disclosed, not hidden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5221224"/>
            <a:ext cx="420624" cy="420624"/>
          </a:xfrm>
          <a:prstGeom prst="ellipse">
            <a:avLst/>
          </a:prstGeom>
          <a:solidFill>
            <a:srgbClr val="12454C"/>
          </a:solidFill>
          <a:ln/>
        </p:spPr>
      </p:sp>
      <p:pic>
        <p:nvPicPr>
          <p:cNvPr id="13" name="Image 2" descr="C:\Users\sadhu\AppData\Local\Temp\claude\C--Users-sadhu-OneDrive-Desktop-medical-report\3dc9609e-4bfe-4faf-9aa6-e1a11c00885a\scratchpad\pptx\icons\FaRoa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312664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5221224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roadmap to the full industrial system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7955280" y="2148840"/>
            <a:ext cx="3566160" cy="3200400"/>
          </a:xfrm>
          <a:prstGeom prst="roundRect">
            <a:avLst>
              <a:gd name="adj" fmla="val 4000"/>
            </a:avLst>
          </a:prstGeom>
          <a:solidFill>
            <a:srgbClr val="12454C"/>
          </a:solidFill>
          <a:ln/>
        </p:spPr>
      </p:sp>
      <p:sp>
        <p:nvSpPr>
          <p:cNvPr id="16" name="Text 11"/>
          <p:cNvSpPr/>
          <p:nvPr/>
        </p:nvSpPr>
        <p:spPr>
          <a:xfrm>
            <a:off x="8229600" y="2423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Milestone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22960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DICOM Ingestion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8229600" y="3566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CT/MRI Model Integration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229600" y="4526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the prototype's proven pipeline to real clinical-grade inputs and models.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40080" y="6126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Imaging Report — Prototype Status</dc:title>
  <dc:subject>PptxGenJS Presentation</dc:subject>
  <dc:creator>Medical Imaging Report Project</dc:creator>
  <cp:lastModifiedBy>Medical Imaging Report Project</cp:lastModifiedBy>
  <cp:revision>1</cp:revision>
  <dcterms:created xsi:type="dcterms:W3CDTF">2026-08-13T04:17:16Z</dcterms:created>
  <dcterms:modified xsi:type="dcterms:W3CDTF">2026-08-13T04:17:16Z</dcterms:modified>
</cp:coreProperties>
</file>